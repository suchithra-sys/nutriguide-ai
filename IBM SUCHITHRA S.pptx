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90" r:id="rId2"/>
    <p:sldId id="291" r:id="rId3"/>
    <p:sldId id="292" r:id="rId4"/>
    <p:sldId id="293" r:id="rId5"/>
    <p:sldId id="294" r:id="rId6"/>
    <p:sldId id="295" r:id="rId7"/>
    <p:sldId id="296" r:id="rId8"/>
    <p:sldId id="310" r:id="rId9"/>
    <p:sldId id="297" r:id="rId10"/>
    <p:sldId id="298" r:id="rId11"/>
    <p:sldId id="299" r:id="rId12"/>
    <p:sldId id="300" r:id="rId13"/>
    <p:sldId id="301" r:id="rId14"/>
    <p:sldId id="302" r:id="rId15"/>
    <p:sldId id="311" r:id="rId16"/>
    <p:sldId id="312" r:id="rId17"/>
    <p:sldId id="313" r:id="rId18"/>
    <p:sldId id="314" r:id="rId19"/>
    <p:sldId id="303" r:id="rId20"/>
    <p:sldId id="304" r:id="rId21"/>
    <p:sldId id="305" r:id="rId22"/>
    <p:sldId id="306" r:id="rId23"/>
    <p:sldId id="307" r:id="rId24"/>
    <p:sldId id="308" r:id="rId25"/>
    <p:sldId id="309"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65616B47-D1CC-195B-41B9-2968467C0E6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183C46F7-E884-5ADF-D963-4123FD9942F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A559F1D8-67C3-06DB-25EF-570E0DBABD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6132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9972540-0871-06F7-2726-01DA73CEDDDC}"/>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0E78372-9E32-CD32-0428-0A4F74A65A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BC84A5FC-92BC-2686-B695-33E8EF96E2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17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B6B76E1-0CA3-8B8E-2049-6C5E07DE106B}"/>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955FE776-D013-FBF6-5C25-F1225A6048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20DFF6A7-1984-6B48-82CC-3F0B4773EA0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9606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3F89AF3-1BBB-8DE6-ECE3-5787E9AFEB8F}"/>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97CE96B-2AEB-0AAB-414D-29D1317651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05870737-7CBB-0BBC-E8C4-D497036C67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76958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suchithra-sys/NutriGuide-AI/tree/main"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81289230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b="1" dirty="0"/>
                        <a:t>SUCHITHRA S</a:t>
                      </a:r>
                      <a:endParaRPr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sz="1250" b="1" dirty="0"/>
                        <a:t>suchithra.s.work@gmail.com</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ctr" rtl="0">
                        <a:spcBef>
                          <a:spcPts val="0"/>
                        </a:spcBef>
                        <a:spcAft>
                          <a:spcPts val="0"/>
                        </a:spcAft>
                        <a:buNone/>
                      </a:pPr>
                      <a:r>
                        <a:rPr lang="en-US" b="1" dirty="0"/>
                        <a:t>8667059065</a:t>
                      </a:r>
                      <a:endParaRPr b="1"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b="1" dirty="0" err="1"/>
              <a:t>NutriGuide</a:t>
            </a:r>
            <a:r>
              <a:rPr lang="en-IN" sz="2400" b="1" dirty="0"/>
              <a:t> AI – Personalized AI Nutrition Assistant</a:t>
            </a:r>
            <a:endParaRPr lang="en-IN" sz="2400" b="1" dirty="0">
              <a:highlight>
                <a:srgbClr val="FFFF00"/>
              </a:highlight>
            </a:endParaRPr>
          </a:p>
        </p:txBody>
      </p:sp>
      <p:pic>
        <p:nvPicPr>
          <p:cNvPr id="5" name="Picture 4">
            <a:extLst>
              <a:ext uri="{FF2B5EF4-FFF2-40B4-BE49-F238E27FC236}">
                <a16:creationId xmlns:a16="http://schemas.microsoft.com/office/drawing/2014/main" id="{EE99E705-9A39-B816-83D6-02A26BDA58A2}"/>
              </a:ext>
            </a:extLst>
          </p:cNvPr>
          <p:cNvPicPr>
            <a:picLocks noChangeAspect="1"/>
          </p:cNvPicPr>
          <p:nvPr/>
        </p:nvPicPr>
        <p:blipFill>
          <a:blip r:embed="rId3"/>
          <a:stretch>
            <a:fillRect/>
          </a:stretch>
        </p:blipFill>
        <p:spPr>
          <a:xfrm>
            <a:off x="4080387" y="3611591"/>
            <a:ext cx="993058" cy="1100294"/>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81669"/>
            <a:ext cx="10554044" cy="5693866"/>
          </a:xfrm>
          <a:prstGeom prst="rect">
            <a:avLst/>
          </a:prstGeom>
          <a:noFill/>
        </p:spPr>
        <p:txBody>
          <a:bodyPr wrap="square" rtlCol="0">
            <a:spAutoFit/>
          </a:bodyPr>
          <a:lstStyle/>
          <a:p>
            <a:r>
              <a:rPr lang="en-IN" b="1" dirty="0"/>
              <a:t>Problem Statement – Nutrition Agent</a:t>
            </a:r>
          </a:p>
          <a:p>
            <a:r>
              <a:rPr lang="en-IN" b="1" dirty="0"/>
              <a:t>Problem</a:t>
            </a:r>
          </a:p>
          <a:p>
            <a:pPr lvl="0"/>
            <a:r>
              <a:rPr lang="en-IN" dirty="0"/>
              <a:t>People often struggle with </a:t>
            </a:r>
            <a:r>
              <a:rPr lang="en-IN" b="1" dirty="0"/>
              <a:t>personalized nutrition guidance, diet planning, portion control and nutrition tracking</a:t>
            </a:r>
            <a:r>
              <a:rPr lang="en-IN" dirty="0"/>
              <a:t>. </a:t>
            </a:r>
          </a:p>
          <a:p>
            <a:pPr lvl="0"/>
            <a:r>
              <a:rPr lang="en-IN" dirty="0"/>
              <a:t>Generic nutrition advice does not always consider an individual's </a:t>
            </a:r>
            <a:r>
              <a:rPr lang="en-IN" b="1" dirty="0"/>
              <a:t>age, preferences, lifestyle and goals</a:t>
            </a:r>
            <a:r>
              <a:rPr lang="en-IN" dirty="0"/>
              <a:t>. </a:t>
            </a:r>
          </a:p>
          <a:p>
            <a:pPr lvl="0"/>
            <a:r>
              <a:rPr lang="en-IN" dirty="0"/>
              <a:t>Users need an intelligent system that can provide personalized and practical nutrition guidance. </a:t>
            </a:r>
          </a:p>
          <a:p>
            <a:pPr lvl="0"/>
            <a:endParaRPr lang="en-IN" dirty="0"/>
          </a:p>
          <a:p>
            <a:r>
              <a:rPr lang="en-IN" b="1" dirty="0"/>
              <a:t>Challenge</a:t>
            </a:r>
          </a:p>
          <a:p>
            <a:r>
              <a:rPr lang="en-IN" dirty="0"/>
              <a:t>Personalized nutrition guidance is difficult because individuals have different </a:t>
            </a:r>
            <a:r>
              <a:rPr lang="en-IN" b="1" dirty="0"/>
              <a:t>dietary preferences, nutritional needs, health goals and eating habits</a:t>
            </a:r>
            <a:r>
              <a:rPr lang="en-IN" dirty="0"/>
              <a:t>. Users need support for </a:t>
            </a:r>
            <a:r>
              <a:rPr lang="en-IN" b="1" dirty="0"/>
              <a:t>diet planning, portion control and nutrition tracking</a:t>
            </a:r>
            <a:r>
              <a:rPr lang="en-IN" dirty="0"/>
              <a:t>.</a:t>
            </a:r>
          </a:p>
          <a:p>
            <a:pPr lvl="0"/>
            <a:endParaRPr lang="en-IN" dirty="0"/>
          </a:p>
          <a:p>
            <a:pPr lvl="0"/>
            <a:endParaRPr lang="en-IN" dirty="0"/>
          </a:p>
          <a:p>
            <a:r>
              <a:rPr lang="en-IN" b="1" dirty="0"/>
              <a:t>Objective</a:t>
            </a:r>
          </a:p>
          <a:p>
            <a:endParaRPr lang="en-IN" b="1" dirty="0"/>
          </a:p>
          <a:p>
            <a:pPr marL="285750" lvl="0" indent="-285750">
              <a:buFont typeface="Arial" panose="020B0604020202020204" pitchFamily="34" charset="0"/>
              <a:buChar char="•"/>
            </a:pPr>
            <a:r>
              <a:rPr lang="en-IN" dirty="0"/>
              <a:t>Develop an </a:t>
            </a:r>
            <a:r>
              <a:rPr lang="en-IN" b="1" dirty="0"/>
              <a:t>AI-powered personalized Nutrition Agent</a:t>
            </a:r>
            <a:r>
              <a:rPr lang="en-IN" dirty="0"/>
              <a:t> for diet planning and nutrition guidance. </a:t>
            </a:r>
          </a:p>
          <a:p>
            <a:pPr marL="285750" lvl="0" indent="-285750">
              <a:buFont typeface="Arial" panose="020B0604020202020204" pitchFamily="34" charset="0"/>
              <a:buChar char="•"/>
            </a:pPr>
            <a:r>
              <a:rPr lang="en-IN" dirty="0"/>
              <a:t>Provide </a:t>
            </a:r>
            <a:r>
              <a:rPr lang="en-IN" b="1" dirty="0"/>
              <a:t>personalized diet plans</a:t>
            </a:r>
            <a:r>
              <a:rPr lang="en-IN" dirty="0"/>
              <a:t> based on user requirements. </a:t>
            </a:r>
          </a:p>
          <a:p>
            <a:pPr marL="285750" lvl="0" indent="-285750">
              <a:buFont typeface="Arial" panose="020B0604020202020204" pitchFamily="34" charset="0"/>
              <a:buChar char="•"/>
            </a:pPr>
            <a:r>
              <a:rPr lang="en-IN" dirty="0"/>
              <a:t>Implement </a:t>
            </a:r>
            <a:r>
              <a:rPr lang="en-IN" b="1" dirty="0"/>
              <a:t>Food Data RAG</a:t>
            </a:r>
            <a:r>
              <a:rPr lang="en-IN" dirty="0"/>
              <a:t> for retrieving relevant nutrition information. </a:t>
            </a:r>
          </a:p>
          <a:p>
            <a:pPr marL="285750" lvl="0" indent="-285750">
              <a:buFont typeface="Arial" panose="020B0604020202020204" pitchFamily="34" charset="0"/>
              <a:buChar char="•"/>
            </a:pPr>
            <a:r>
              <a:rPr lang="en-IN" dirty="0"/>
              <a:t>Enable </a:t>
            </a:r>
            <a:r>
              <a:rPr lang="en-IN" b="1" dirty="0"/>
              <a:t>diet tracking and feedback</a:t>
            </a:r>
            <a:r>
              <a:rPr lang="en-IN" dirty="0"/>
              <a:t> based on logged food. </a:t>
            </a:r>
          </a:p>
          <a:p>
            <a:pPr marL="285750" lvl="0" indent="-285750">
              <a:buFont typeface="Arial" panose="020B0604020202020204" pitchFamily="34" charset="0"/>
              <a:buChar char="•"/>
            </a:pPr>
            <a:r>
              <a:rPr lang="en-IN" dirty="0"/>
              <a:t>Provide </a:t>
            </a:r>
            <a:r>
              <a:rPr lang="en-IN" b="1" dirty="0"/>
              <a:t>preventive health guidance</a:t>
            </a:r>
            <a:r>
              <a:rPr lang="en-IN" dirty="0"/>
              <a:t> related to nutrition and wellness. </a:t>
            </a:r>
          </a:p>
          <a:p>
            <a:pPr marL="285750" lvl="0" indent="-285750">
              <a:buFont typeface="Arial" panose="020B0604020202020204" pitchFamily="34" charset="0"/>
              <a:buChar char="•"/>
            </a:pPr>
            <a:r>
              <a:rPr lang="en-IN" dirty="0"/>
              <a:t>Build a </a:t>
            </a:r>
            <a:r>
              <a:rPr lang="en-IN" b="1" dirty="0"/>
              <a:t>multi-agent system</a:t>
            </a:r>
            <a:r>
              <a:rPr lang="en-IN" dirty="0"/>
              <a:t> consisting of: </a:t>
            </a:r>
          </a:p>
          <a:p>
            <a:pPr marL="285750" lvl="1" indent="-285750">
              <a:buFont typeface="Arial" panose="020B0604020202020204" pitchFamily="34" charset="0"/>
              <a:buChar char="•"/>
            </a:pPr>
            <a:r>
              <a:rPr lang="en-IN" dirty="0"/>
              <a:t>Nutrition Knowledge Agent </a:t>
            </a:r>
          </a:p>
          <a:p>
            <a:pPr marL="285750" lvl="1" indent="-285750">
              <a:buFont typeface="Arial" panose="020B0604020202020204" pitchFamily="34" charset="0"/>
              <a:buChar char="•"/>
            </a:pPr>
            <a:r>
              <a:rPr lang="en-IN" dirty="0"/>
              <a:t>Diet Recommendation Agent </a:t>
            </a:r>
          </a:p>
          <a:p>
            <a:pPr marL="285750" lvl="1" indent="-285750">
              <a:buFont typeface="Arial" panose="020B0604020202020204" pitchFamily="34" charset="0"/>
              <a:buChar char="•"/>
            </a:pPr>
            <a:r>
              <a:rPr lang="en-IN" dirty="0"/>
              <a:t>Health Advisory Agent </a:t>
            </a:r>
          </a:p>
          <a:p>
            <a:pPr marL="285750" lvl="1" indent="-285750">
              <a:buFont typeface="Arial" panose="020B0604020202020204" pitchFamily="34" charset="0"/>
              <a:buChar char="•"/>
            </a:pPr>
            <a:r>
              <a:rPr lang="en-IN" dirty="0"/>
              <a:t>Food Log &amp; Feedback Agent </a:t>
            </a:r>
          </a:p>
          <a:p>
            <a:pPr marL="285750" lvl="0" indent="-285750">
              <a:buFont typeface="Arial" panose="020B0604020202020204" pitchFamily="34" charset="0"/>
              <a:buChar char="•"/>
            </a:pPr>
            <a:r>
              <a:rPr lang="en-IN" dirty="0"/>
              <a:t>Provide a </a:t>
            </a:r>
            <a:r>
              <a:rPr lang="en-IN" b="1" dirty="0"/>
              <a:t>visualization dashboard</a:t>
            </a:r>
            <a:r>
              <a:rPr lang="en-IN" dirty="0"/>
              <a:t> for nutrition tracking and insights.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047536"/>
          </a:xfrm>
          <a:prstGeom prst="rect">
            <a:avLst/>
          </a:prstGeom>
          <a:noFill/>
        </p:spPr>
        <p:txBody>
          <a:bodyPr wrap="square" rtlCol="0">
            <a:spAutoFit/>
          </a:bodyPr>
          <a:lstStyle/>
          <a:p>
            <a:pPr fontAlgn="base"/>
            <a:endParaRPr lang="en-US" b="1" dirty="0"/>
          </a:p>
          <a:p>
            <a:r>
              <a:rPr lang="en-IN" b="1" dirty="0"/>
              <a:t>Proposed Solution – AI-Powered Nutrition Agent</a:t>
            </a:r>
          </a:p>
          <a:p>
            <a:r>
              <a:rPr lang="en-IN" b="1" dirty="0" err="1"/>
              <a:t>NutriGuide</a:t>
            </a:r>
            <a:r>
              <a:rPr lang="en-IN" b="1" dirty="0"/>
              <a:t> AI</a:t>
            </a:r>
            <a:r>
              <a:rPr lang="en-IN" dirty="0"/>
              <a:t> is a multi-agent AI-powered nutrition guidance application built using </a:t>
            </a:r>
            <a:r>
              <a:rPr lang="en-IN" b="1" dirty="0"/>
              <a:t>IBM Bob, IBM watsonx.ai and IBM Granite</a:t>
            </a:r>
            <a:r>
              <a:rPr lang="en-IN" dirty="0"/>
              <a:t> to provide personalized nutrition support.</a:t>
            </a:r>
          </a:p>
          <a:p>
            <a:r>
              <a:rPr lang="en-IN" dirty="0"/>
              <a:t>The system addresses challenges in </a:t>
            </a:r>
            <a:r>
              <a:rPr lang="en-IN" b="1" dirty="0"/>
              <a:t>diet planning, nutrition tracking, food recommendations and preventive health guidance</a:t>
            </a:r>
            <a:r>
              <a:rPr lang="en-IN" dirty="0"/>
              <a:t> through a modular agent-based architecture.</a:t>
            </a:r>
          </a:p>
          <a:p>
            <a:r>
              <a:rPr lang="en-IN" dirty="0"/>
              <a:t>At its core, the solution uses </a:t>
            </a:r>
            <a:r>
              <a:rPr lang="en-IN" b="1" dirty="0"/>
              <a:t>Retrieval-Augmented Generation (RAG)</a:t>
            </a:r>
            <a:r>
              <a:rPr lang="en-IN" dirty="0"/>
              <a:t> to retrieve relevant nutrition information from a local food dataset and provide contextual responses using IBM Granite.</a:t>
            </a:r>
          </a:p>
          <a:p>
            <a:r>
              <a:rPr lang="en-IN" b="1" dirty="0"/>
              <a:t>The system consists of four key agents:</a:t>
            </a:r>
          </a:p>
          <a:p>
            <a:r>
              <a:rPr lang="en-IN" b="1" dirty="0"/>
              <a:t>Nutrition Knowledge Agent</a:t>
            </a:r>
            <a:r>
              <a:rPr lang="en-IN" dirty="0"/>
              <a:t> – retrieves relevant food and nutrition information using RAG.</a:t>
            </a:r>
          </a:p>
          <a:p>
            <a:r>
              <a:rPr lang="en-IN" b="1" dirty="0"/>
              <a:t>Diet Recommendation Agent</a:t>
            </a:r>
            <a:r>
              <a:rPr lang="en-IN" dirty="0"/>
              <a:t> – generates personalized one-day meal plans and healthy food recommendations based on user profile and goals.</a:t>
            </a:r>
          </a:p>
          <a:p>
            <a:r>
              <a:rPr lang="en-IN" b="1" dirty="0"/>
              <a:t>Health Advisory Agent</a:t>
            </a:r>
            <a:r>
              <a:rPr lang="en-IN" dirty="0"/>
              <a:t> – provides general preventive health and nutrition guidance with an appropriate wellness disclaimer.</a:t>
            </a:r>
          </a:p>
          <a:p>
            <a:r>
              <a:rPr lang="en-IN" b="1" dirty="0"/>
              <a:t>Food Log &amp; Feedback Agent</a:t>
            </a:r>
            <a:r>
              <a:rPr lang="en-IN" dirty="0"/>
              <a:t> – </a:t>
            </a:r>
            <a:r>
              <a:rPr lang="en-IN" dirty="0" err="1"/>
              <a:t>analyzes</a:t>
            </a:r>
            <a:r>
              <a:rPr lang="en-IN" dirty="0"/>
              <a:t> logged food entries and provides nutritional feedback including calories and macronutrients.</a:t>
            </a:r>
          </a:p>
          <a:p>
            <a:r>
              <a:rPr lang="en-IN" dirty="0"/>
              <a:t>The solution also includes a </a:t>
            </a:r>
            <a:r>
              <a:rPr lang="en-IN" b="1" dirty="0"/>
              <a:t>user-friendly dashboard</a:t>
            </a:r>
            <a:r>
              <a:rPr lang="en-IN" dirty="0"/>
              <a:t> that visualizes daily calorie intake, calorie goals and macronutrient information.</a:t>
            </a:r>
          </a:p>
          <a:p>
            <a:r>
              <a:rPr lang="en-IN" b="1" dirty="0"/>
              <a:t>IBM Bob</a:t>
            </a:r>
            <a:r>
              <a:rPr lang="en-IN" dirty="0"/>
              <a:t> was used to assist in developing and organizing the application, while </a:t>
            </a:r>
            <a:r>
              <a:rPr lang="en-IN" b="1" dirty="0"/>
              <a:t>IBM watsonx.ai</a:t>
            </a:r>
            <a:r>
              <a:rPr lang="en-IN" dirty="0"/>
              <a:t> provides the IBM Granite model inference environment. Granite powers AI-generated nutrition guidance, reasoning and personalization.</a:t>
            </a:r>
          </a:p>
          <a:p>
            <a:r>
              <a:rPr lang="en-IN" dirty="0"/>
              <a:t>Overall, </a:t>
            </a:r>
            <a:r>
              <a:rPr lang="en-IN" dirty="0" err="1"/>
              <a:t>NutriGuide</a:t>
            </a:r>
            <a:r>
              <a:rPr lang="en-IN" dirty="0"/>
              <a:t> AI provides an </a:t>
            </a:r>
            <a:r>
              <a:rPr lang="en-IN" b="1" dirty="0"/>
              <a:t>end-to-end personalized nutrition guidance experience</a:t>
            </a:r>
            <a:r>
              <a:rPr lang="en-IN" dirty="0"/>
              <a:t> combining RAG, multi-agent AI, food tracking, recommendations and visualization.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610131"/>
            <a:ext cx="10264386" cy="5740033"/>
          </a:xfrm>
          <a:prstGeom prst="rect">
            <a:avLst/>
          </a:prstGeom>
          <a:noFill/>
        </p:spPr>
        <p:txBody>
          <a:bodyPr wrap="square" rtlCol="0">
            <a:spAutoFit/>
          </a:bodyPr>
          <a:lstStyle/>
          <a:p>
            <a:pPr marL="285750" lvl="0" indent="-285750">
              <a:buFont typeface="Arial" panose="020B0604020202020204" pitchFamily="34" charset="0"/>
              <a:buChar char="•"/>
            </a:pPr>
            <a:r>
              <a:rPr lang="en-IN" sz="1900" b="1" dirty="0"/>
              <a:t>IBM Bob</a:t>
            </a:r>
            <a:r>
              <a:rPr lang="en-IN" sz="1900" dirty="0"/>
              <a:t> – For AI-assisted project development, implementation, debugging and workflow support. </a:t>
            </a:r>
          </a:p>
          <a:p>
            <a:pPr marL="285750" lvl="0" indent="-285750">
              <a:buFont typeface="Arial" panose="020B0604020202020204" pitchFamily="34" charset="0"/>
              <a:buChar char="•"/>
            </a:pPr>
            <a:r>
              <a:rPr lang="en-IN" sz="1900" b="1" dirty="0"/>
              <a:t>IBM Granite</a:t>
            </a:r>
            <a:r>
              <a:rPr lang="en-IN" sz="1900" dirty="0"/>
              <a:t> – For natural language understanding, reasoning, summarization and personalized nutrition responses. </a:t>
            </a:r>
          </a:p>
          <a:p>
            <a:pPr marL="285750" lvl="0" indent="-285750">
              <a:buFont typeface="Arial" panose="020B0604020202020204" pitchFamily="34" charset="0"/>
              <a:buChar char="•"/>
            </a:pPr>
            <a:r>
              <a:rPr lang="en-IN" sz="1900" b="1" dirty="0"/>
              <a:t>IBM Cloud</a:t>
            </a:r>
            <a:r>
              <a:rPr lang="en-IN" sz="1900" dirty="0"/>
              <a:t> – Provides the cloud infrastructure and services used for the </a:t>
            </a:r>
            <a:r>
              <a:rPr lang="en-IN" sz="1900" dirty="0" err="1"/>
              <a:t>NutriGuide</a:t>
            </a:r>
            <a:r>
              <a:rPr lang="en-IN" sz="1900" dirty="0"/>
              <a:t> AI application. </a:t>
            </a:r>
          </a:p>
          <a:p>
            <a:pPr marL="285750" lvl="0" indent="-285750">
              <a:buFont typeface="Arial" panose="020B0604020202020204" pitchFamily="34" charset="0"/>
              <a:buChar char="•"/>
            </a:pPr>
            <a:r>
              <a:rPr lang="en-IN" sz="1900" b="1" dirty="0"/>
              <a:t>IBM watsonx.ai / Watson Machine Learning Runtime</a:t>
            </a:r>
            <a:r>
              <a:rPr lang="en-IN" sz="1900" dirty="0"/>
              <a:t> – For IBM Granite model inference and AI platform integration. </a:t>
            </a:r>
          </a:p>
          <a:p>
            <a:pPr marL="285750" lvl="0" indent="-285750">
              <a:buFont typeface="Arial" panose="020B0604020202020204" pitchFamily="34" charset="0"/>
              <a:buChar char="•"/>
            </a:pPr>
            <a:r>
              <a:rPr lang="en-IN" sz="1900" b="1" dirty="0"/>
              <a:t>RAG (Retrieval-Augmented Generation)</a:t>
            </a:r>
            <a:r>
              <a:rPr lang="en-IN" sz="1900" dirty="0"/>
              <a:t> – Retrieves relevant nutrition information from the project's food dataset and provides it as context for AI responses. </a:t>
            </a:r>
          </a:p>
          <a:p>
            <a:pPr marL="285750" lvl="0" indent="-285750">
              <a:buFont typeface="Arial" panose="020B0604020202020204" pitchFamily="34" charset="0"/>
              <a:buChar char="•"/>
            </a:pPr>
            <a:r>
              <a:rPr lang="en-IN" sz="1900" b="1" dirty="0"/>
              <a:t>Node.js &amp; Express</a:t>
            </a:r>
            <a:r>
              <a:rPr lang="en-IN" sz="1900" dirty="0"/>
              <a:t> – For developing the backend server and API endpoints connecting the application with the AI agents. </a:t>
            </a:r>
          </a:p>
          <a:p>
            <a:pPr marL="285750" lvl="0" indent="-285750">
              <a:buFont typeface="Arial" panose="020B0604020202020204" pitchFamily="34" charset="0"/>
              <a:buChar char="•"/>
            </a:pPr>
            <a:r>
              <a:rPr lang="en-IN" sz="1900" b="1" dirty="0"/>
              <a:t>HTML, CSS &amp; JavaScript</a:t>
            </a:r>
            <a:r>
              <a:rPr lang="en-IN" sz="1900" dirty="0"/>
              <a:t> – For building the interactive </a:t>
            </a:r>
            <a:r>
              <a:rPr lang="en-IN" sz="1900" dirty="0" err="1"/>
              <a:t>NutriGuide</a:t>
            </a:r>
            <a:r>
              <a:rPr lang="en-IN" sz="1900" dirty="0"/>
              <a:t> AI web interface. </a:t>
            </a:r>
          </a:p>
          <a:p>
            <a:pPr marL="285750" lvl="0" indent="-285750">
              <a:buFont typeface="Arial" panose="020B0604020202020204" pitchFamily="34" charset="0"/>
              <a:buChar char="•"/>
            </a:pPr>
            <a:r>
              <a:rPr lang="en-IN" sz="1900" b="1" dirty="0"/>
              <a:t>Chart.js &amp; Local Storage</a:t>
            </a:r>
            <a:r>
              <a:rPr lang="en-IN" sz="1900" dirty="0"/>
              <a:t> – For nutrition dashboard visualization and maintaining the user's food-log data.</a:t>
            </a:r>
          </a:p>
          <a:p>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9BAEFED8-B714-F35E-328D-6EF1CC436B2B}"/>
              </a:ext>
            </a:extLst>
          </p:cNvPr>
          <p:cNvPicPr>
            <a:picLocks noChangeAspect="1"/>
          </p:cNvPicPr>
          <p:nvPr/>
        </p:nvPicPr>
        <p:blipFill>
          <a:blip r:embed="rId3"/>
          <a:srcRect r="1936" b="3787"/>
          <a:stretch>
            <a:fillRect/>
          </a:stretch>
        </p:blipFill>
        <p:spPr>
          <a:xfrm>
            <a:off x="1503871" y="965793"/>
            <a:ext cx="9370142" cy="5067523"/>
          </a:xfrm>
          <a:prstGeom prst="rect">
            <a:avLst/>
          </a:prstGeom>
        </p:spPr>
      </p:pic>
      <p:sp>
        <p:nvSpPr>
          <p:cNvPr id="5" name="TextBox 4">
            <a:extLst>
              <a:ext uri="{FF2B5EF4-FFF2-40B4-BE49-F238E27FC236}">
                <a16:creationId xmlns:a16="http://schemas.microsoft.com/office/drawing/2014/main" id="{678627AB-7838-BB86-8AF9-A3DFAD957A41}"/>
              </a:ext>
            </a:extLst>
          </p:cNvPr>
          <p:cNvSpPr txBox="1"/>
          <p:nvPr/>
        </p:nvSpPr>
        <p:spPr>
          <a:xfrm>
            <a:off x="3122267" y="6255058"/>
            <a:ext cx="5865708" cy="307777"/>
          </a:xfrm>
          <a:prstGeom prst="rect">
            <a:avLst/>
          </a:prstGeom>
          <a:noFill/>
        </p:spPr>
        <p:txBody>
          <a:bodyPr wrap="none" rtlCol="0">
            <a:spAutoFit/>
          </a:bodyPr>
          <a:lstStyle/>
          <a:p>
            <a:r>
              <a:rPr lang="en-IN"/>
              <a:t>Figure: NutriGuide AI project files created and organized using IBM Bob</a:t>
            </a:r>
            <a:endParaRPr lang="en-IN" dirty="0"/>
          </a:p>
        </p:txBody>
      </p:sp>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5" name="Picture 4">
            <a:extLst>
              <a:ext uri="{FF2B5EF4-FFF2-40B4-BE49-F238E27FC236}">
                <a16:creationId xmlns:a16="http://schemas.microsoft.com/office/drawing/2014/main" id="{9FF06FC2-E1DA-42F5-E448-98C721680BFE}"/>
              </a:ext>
            </a:extLst>
          </p:cNvPr>
          <p:cNvPicPr>
            <a:picLocks noChangeAspect="1"/>
          </p:cNvPicPr>
          <p:nvPr/>
        </p:nvPicPr>
        <p:blipFill>
          <a:blip r:embed="rId3"/>
          <a:stretch>
            <a:fillRect/>
          </a:stretch>
        </p:blipFill>
        <p:spPr>
          <a:xfrm>
            <a:off x="1455174" y="1204461"/>
            <a:ext cx="9099769" cy="4803050"/>
          </a:xfrm>
          <a:prstGeom prst="rect">
            <a:avLst/>
          </a:prstGeom>
        </p:spPr>
      </p:pic>
      <p:sp>
        <p:nvSpPr>
          <p:cNvPr id="6" name="TextBox 5">
            <a:extLst>
              <a:ext uri="{FF2B5EF4-FFF2-40B4-BE49-F238E27FC236}">
                <a16:creationId xmlns:a16="http://schemas.microsoft.com/office/drawing/2014/main" id="{C262DA7C-40BB-3B1B-8254-27E3FA94DC9A}"/>
              </a:ext>
            </a:extLst>
          </p:cNvPr>
          <p:cNvSpPr txBox="1"/>
          <p:nvPr/>
        </p:nvSpPr>
        <p:spPr>
          <a:xfrm>
            <a:off x="2824110" y="6226984"/>
            <a:ext cx="6543779" cy="307777"/>
          </a:xfrm>
          <a:prstGeom prst="rect">
            <a:avLst/>
          </a:prstGeom>
          <a:noFill/>
        </p:spPr>
        <p:txBody>
          <a:bodyPr wrap="none" rtlCol="0">
            <a:spAutoFit/>
          </a:bodyPr>
          <a:lstStyle/>
          <a:p>
            <a:r>
              <a:rPr lang="en-IN" dirty="0"/>
              <a:t>Figure: </a:t>
            </a:r>
            <a:r>
              <a:rPr lang="en-IN" dirty="0" err="1"/>
              <a:t>NutriGuide</a:t>
            </a:r>
            <a:r>
              <a:rPr lang="en-IN" dirty="0"/>
              <a:t> AI development workflow and task completion using IBM Bob</a:t>
            </a:r>
          </a:p>
        </p:txBody>
      </p:sp>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3E87D6C-EDEC-BC61-D125-D794B7EA8D61}"/>
              </a:ext>
            </a:extLst>
          </p:cNvPr>
          <p:cNvPicPr>
            <a:picLocks noChangeAspect="1"/>
          </p:cNvPicPr>
          <p:nvPr/>
        </p:nvPicPr>
        <p:blipFill>
          <a:blip r:embed="rId2"/>
          <a:stretch>
            <a:fillRect/>
          </a:stretch>
        </p:blipFill>
        <p:spPr>
          <a:xfrm>
            <a:off x="824687" y="530942"/>
            <a:ext cx="10542625" cy="5937422"/>
          </a:xfrm>
          <a:prstGeom prst="rect">
            <a:avLst/>
          </a:prstGeom>
        </p:spPr>
      </p:pic>
    </p:spTree>
    <p:extLst>
      <p:ext uri="{BB962C8B-B14F-4D97-AF65-F5344CB8AC3E}">
        <p14:creationId xmlns:p14="http://schemas.microsoft.com/office/powerpoint/2010/main" val="4256876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20E0A7BB-E0B9-3787-B265-D43673977008}"/>
              </a:ext>
            </a:extLst>
          </p:cNvPr>
          <p:cNvPicPr>
            <a:picLocks noChangeAspect="1"/>
          </p:cNvPicPr>
          <p:nvPr/>
        </p:nvPicPr>
        <p:blipFill>
          <a:blip r:embed="rId2"/>
          <a:stretch>
            <a:fillRect/>
          </a:stretch>
        </p:blipFill>
        <p:spPr>
          <a:xfrm>
            <a:off x="717484" y="559270"/>
            <a:ext cx="10757031" cy="573946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4" name="Picture 3">
            <a:extLst>
              <a:ext uri="{FF2B5EF4-FFF2-40B4-BE49-F238E27FC236}">
                <a16:creationId xmlns:a16="http://schemas.microsoft.com/office/drawing/2014/main" id="{5C45DEF3-25BE-4D2C-A529-12C34EBC65D4}"/>
              </a:ext>
            </a:extLst>
          </p:cNvPr>
          <p:cNvPicPr>
            <a:picLocks noChangeAspect="1"/>
          </p:cNvPicPr>
          <p:nvPr/>
        </p:nvPicPr>
        <p:blipFill>
          <a:blip r:embed="rId3"/>
          <a:srcRect t="5698"/>
          <a:stretch>
            <a:fillRect/>
          </a:stretch>
        </p:blipFill>
        <p:spPr>
          <a:xfrm>
            <a:off x="1450445" y="771747"/>
            <a:ext cx="9291110" cy="5841174"/>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1077218"/>
          </a:xfrm>
          <a:prstGeom prst="rect">
            <a:avLst/>
          </a:prstGeom>
          <a:noFill/>
        </p:spPr>
        <p:txBody>
          <a:bodyPr wrap="square" rtlCol="0">
            <a:spAutoFit/>
          </a:bodyPr>
          <a:lstStyle/>
          <a:p>
            <a:r>
              <a:rPr lang="en-US" sz="3200" b="1" dirty="0"/>
              <a:t>Role of Agentic AI in </a:t>
            </a:r>
            <a:r>
              <a:rPr lang="en-IN" sz="3200" b="1" dirty="0" err="1"/>
              <a:t>NutriGuide</a:t>
            </a:r>
            <a:r>
              <a:rPr lang="en-IN" sz="3200" b="1" dirty="0"/>
              <a:t> AI</a:t>
            </a:r>
          </a:p>
          <a:p>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607808" cy="5170646"/>
          </a:xfrm>
          <a:prstGeom prst="rect">
            <a:avLst/>
          </a:prstGeom>
          <a:noFill/>
        </p:spPr>
        <p:txBody>
          <a:bodyPr wrap="square" rtlCol="0">
            <a:spAutoFit/>
          </a:bodyPr>
          <a:lstStyle/>
          <a:p>
            <a:r>
              <a:rPr lang="en-IN" sz="1500" dirty="0"/>
              <a:t>Agentic AI enables </a:t>
            </a:r>
            <a:r>
              <a:rPr lang="en-IN" sz="1500" dirty="0" err="1"/>
              <a:t>NutriGuide</a:t>
            </a:r>
            <a:r>
              <a:rPr lang="en-IN" sz="1500" dirty="0"/>
              <a:t> AI to work as an intelligent, goal-oriented nutrition guidance system rather than a simple chatbot. </a:t>
            </a:r>
            <a:r>
              <a:rPr lang="en-IN" sz="1500" b="1" dirty="0"/>
              <a:t>IBM Bob</a:t>
            </a:r>
            <a:r>
              <a:rPr lang="en-IN" sz="1500" dirty="0"/>
              <a:t> orchestrates multiple specialized agents to handle different nutrition tasks.</a:t>
            </a:r>
          </a:p>
          <a:p>
            <a:endParaRPr lang="en-IN" sz="1500" dirty="0"/>
          </a:p>
          <a:p>
            <a:pPr marL="285750" lvl="0" indent="-285750">
              <a:buFont typeface="Arial" panose="020B0604020202020204" pitchFamily="34" charset="0"/>
              <a:buChar char="•"/>
            </a:pPr>
            <a:r>
              <a:rPr lang="en-IN" sz="1500" b="1" dirty="0"/>
              <a:t>Nutrition Knowledge Agent</a:t>
            </a:r>
            <a:r>
              <a:rPr lang="en-IN" sz="1500" dirty="0"/>
              <a:t> retrieves relevant food and nutrition information using </a:t>
            </a:r>
            <a:r>
              <a:rPr lang="en-IN" sz="1500" b="1" dirty="0"/>
              <a:t>RAG</a:t>
            </a:r>
            <a:r>
              <a:rPr lang="en-IN" sz="1500" dirty="0"/>
              <a:t>. </a:t>
            </a:r>
          </a:p>
          <a:p>
            <a:pPr marL="285750" lvl="0" indent="-285750">
              <a:buFont typeface="Arial" panose="020B0604020202020204" pitchFamily="34" charset="0"/>
              <a:buChar char="•"/>
            </a:pPr>
            <a:r>
              <a:rPr lang="en-IN" sz="1500" b="1" dirty="0"/>
              <a:t>Diet Recommendation Agent</a:t>
            </a:r>
            <a:r>
              <a:rPr lang="en-IN" sz="1500" dirty="0"/>
              <a:t> creates personalized meal plans based on age, weight, goal, and dietary preference. </a:t>
            </a:r>
          </a:p>
          <a:p>
            <a:pPr marL="285750" lvl="0" indent="-285750">
              <a:buFont typeface="Arial" panose="020B0604020202020204" pitchFamily="34" charset="0"/>
              <a:buChar char="•"/>
            </a:pPr>
            <a:r>
              <a:rPr lang="en-IN" sz="1500" b="1" dirty="0"/>
              <a:t>Health Advisory Agent</a:t>
            </a:r>
            <a:r>
              <a:rPr lang="en-IN" sz="1500" dirty="0"/>
              <a:t> provides preventive health and wellness guidance with appropriate safety disclaimers. </a:t>
            </a:r>
          </a:p>
          <a:p>
            <a:pPr marL="285750" lvl="0" indent="-285750">
              <a:buFont typeface="Arial" panose="020B0604020202020204" pitchFamily="34" charset="0"/>
              <a:buChar char="•"/>
            </a:pPr>
            <a:r>
              <a:rPr lang="en-IN" sz="1500" b="1" dirty="0"/>
              <a:t>Food Log &amp; Feedback Agent</a:t>
            </a:r>
            <a:r>
              <a:rPr lang="en-IN" sz="1500" dirty="0"/>
              <a:t> </a:t>
            </a:r>
            <a:r>
              <a:rPr lang="en-IN" sz="1500" dirty="0" err="1"/>
              <a:t>analyzes</a:t>
            </a:r>
            <a:r>
              <a:rPr lang="en-IN" sz="1500" dirty="0"/>
              <a:t> logged meals and provides nutritional feedback. </a:t>
            </a:r>
          </a:p>
          <a:p>
            <a:pPr marL="285750" indent="-285750">
              <a:buFont typeface="Arial" panose="020B0604020202020204" pitchFamily="34" charset="0"/>
              <a:buChar char="•"/>
            </a:pPr>
            <a:r>
              <a:rPr lang="en-IN" sz="1500" dirty="0"/>
              <a:t>The agents work together with </a:t>
            </a:r>
            <a:r>
              <a:rPr lang="en-IN" sz="1500" b="1" dirty="0"/>
              <a:t>IBM Granite via watsonx.ai</a:t>
            </a:r>
            <a:r>
              <a:rPr lang="en-IN" sz="1500" dirty="0"/>
              <a:t> to understand user requests, process nutritional information, and generate personalized responses.</a:t>
            </a:r>
          </a:p>
          <a:p>
            <a:pPr marL="285750" indent="-285750">
              <a:buFont typeface="Arial" panose="020B0604020202020204" pitchFamily="34" charset="0"/>
              <a:buChar char="•"/>
            </a:pPr>
            <a:r>
              <a:rPr lang="en-IN" sz="1500" dirty="0"/>
              <a:t>Agentic AI provides </a:t>
            </a:r>
            <a:r>
              <a:rPr lang="en-IN" sz="1500" b="1" dirty="0"/>
              <a:t>context awareness</a:t>
            </a:r>
            <a:r>
              <a:rPr lang="en-IN" sz="1500" dirty="0"/>
              <a:t>, allowing recommendations to consider the user's profile and food preferences.</a:t>
            </a:r>
          </a:p>
          <a:p>
            <a:pPr marL="285750" indent="-285750">
              <a:buFont typeface="Arial" panose="020B0604020202020204" pitchFamily="34" charset="0"/>
              <a:buChar char="•"/>
            </a:pPr>
            <a:r>
              <a:rPr lang="en-IN" sz="1500" dirty="0"/>
              <a:t>It also enables </a:t>
            </a:r>
            <a:r>
              <a:rPr lang="en-IN" sz="1500" b="1" dirty="0"/>
              <a:t>task-based decision making</a:t>
            </a:r>
            <a:r>
              <a:rPr lang="en-IN" sz="1500" dirty="0"/>
              <a:t>, where the appropriate agent is selected according to the user's request.</a:t>
            </a:r>
          </a:p>
          <a:p>
            <a:endParaRPr lang="en-IN" sz="1500" dirty="0"/>
          </a:p>
          <a:p>
            <a:r>
              <a:rPr lang="en-IN" sz="1500" dirty="0"/>
              <a:t>Overall, Agentic AI makes </a:t>
            </a:r>
            <a:r>
              <a:rPr lang="en-IN" sz="1500" dirty="0" err="1"/>
              <a:t>NutriGuide</a:t>
            </a:r>
            <a:r>
              <a:rPr lang="en-IN" sz="1500" dirty="0"/>
              <a:t> AI </a:t>
            </a:r>
            <a:r>
              <a:rPr lang="en-IN" sz="1500" b="1" dirty="0"/>
              <a:t>personalized, modular, responsive, and goal-driven</a:t>
            </a:r>
            <a:r>
              <a:rPr lang="en-IN" sz="1500" dirty="0"/>
              <a:t>, helping users make better everyday nutrition choices.</a:t>
            </a:r>
          </a:p>
          <a:p>
            <a:endParaRPr lang="en-US" sz="1500" dirty="0"/>
          </a:p>
        </p:txBody>
      </p:sp>
    </p:spTree>
    <p:extLst>
      <p:ext uri="{BB962C8B-B14F-4D97-AF65-F5344CB8AC3E}">
        <p14:creationId xmlns:p14="http://schemas.microsoft.com/office/powerpoint/2010/main" val="400069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3" name="Picture 2">
            <a:extLst>
              <a:ext uri="{FF2B5EF4-FFF2-40B4-BE49-F238E27FC236}">
                <a16:creationId xmlns:a16="http://schemas.microsoft.com/office/drawing/2014/main" id="{747C99B8-1390-228B-D6C6-25FE50834F69}"/>
              </a:ext>
            </a:extLst>
          </p:cNvPr>
          <p:cNvPicPr>
            <a:picLocks noChangeAspect="1"/>
          </p:cNvPicPr>
          <p:nvPr/>
        </p:nvPicPr>
        <p:blipFill>
          <a:blip r:embed="rId3"/>
          <a:stretch>
            <a:fillRect/>
          </a:stretch>
        </p:blipFill>
        <p:spPr>
          <a:xfrm>
            <a:off x="1101213" y="1718067"/>
            <a:ext cx="9713395" cy="4652125"/>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6" name="Picture 5">
            <a:extLst>
              <a:ext uri="{FF2B5EF4-FFF2-40B4-BE49-F238E27FC236}">
                <a16:creationId xmlns:a16="http://schemas.microsoft.com/office/drawing/2014/main" id="{9502E310-BA0C-35AF-4CC3-F994172062EC}"/>
              </a:ext>
            </a:extLst>
          </p:cNvPr>
          <p:cNvPicPr>
            <a:picLocks noChangeAspect="1"/>
          </p:cNvPicPr>
          <p:nvPr/>
        </p:nvPicPr>
        <p:blipFill>
          <a:blip r:embed="rId3"/>
          <a:stretch>
            <a:fillRect/>
          </a:stretch>
        </p:blipFill>
        <p:spPr>
          <a:xfrm>
            <a:off x="477970" y="934964"/>
            <a:ext cx="11048972" cy="5426507"/>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8" name="Picture 7">
            <a:extLst>
              <a:ext uri="{FF2B5EF4-FFF2-40B4-BE49-F238E27FC236}">
                <a16:creationId xmlns:a16="http://schemas.microsoft.com/office/drawing/2014/main" id="{87386B57-77D5-97BF-1516-55119241F0C6}"/>
              </a:ext>
            </a:extLst>
          </p:cNvPr>
          <p:cNvPicPr>
            <a:picLocks noChangeAspect="1"/>
          </p:cNvPicPr>
          <p:nvPr/>
        </p:nvPicPr>
        <p:blipFill>
          <a:blip r:embed="rId3"/>
          <a:stretch>
            <a:fillRect/>
          </a:stretch>
        </p:blipFill>
        <p:spPr>
          <a:xfrm>
            <a:off x="449884" y="816977"/>
            <a:ext cx="11742116" cy="5526060"/>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41D1BC5-D10D-861C-DA96-861B0AE92856}"/>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A27CF9B-FCB1-547E-4FEF-B390A209DC9B}"/>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372E5E3C-120E-1329-0AB2-23D49637A52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95D9259-547D-D6CA-F782-6CFE8A589C94}"/>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725FA98-8E19-E896-CA2B-116255E98437}"/>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A68B359D-61CF-E9FA-0DBA-0DD983388C69}"/>
              </a:ext>
            </a:extLst>
          </p:cNvPr>
          <p:cNvSpPr txBox="1"/>
          <p:nvPr/>
        </p:nvSpPr>
        <p:spPr>
          <a:xfrm>
            <a:off x="1335024" y="1865376"/>
            <a:ext cx="184731" cy="400110"/>
          </a:xfrm>
          <a:prstGeom prst="rect">
            <a:avLst/>
          </a:prstGeom>
          <a:noFill/>
        </p:spPr>
        <p:txBody>
          <a:bodyPr wrap="none" rtlCol="0">
            <a:spAutoFit/>
          </a:bodyPr>
          <a:lstStyle/>
          <a:p>
            <a:endParaRPr lang="en-IN" sz="2000" dirty="0">
              <a:solidFill>
                <a:srgbClr val="FF0000"/>
              </a:solidFill>
            </a:endParaRPr>
          </a:p>
        </p:txBody>
      </p:sp>
      <p:pic>
        <p:nvPicPr>
          <p:cNvPr id="8" name="Picture 7">
            <a:extLst>
              <a:ext uri="{FF2B5EF4-FFF2-40B4-BE49-F238E27FC236}">
                <a16:creationId xmlns:a16="http://schemas.microsoft.com/office/drawing/2014/main" id="{B060324F-59F9-8857-E50C-5306702F68C0}"/>
              </a:ext>
            </a:extLst>
          </p:cNvPr>
          <p:cNvPicPr>
            <a:picLocks noChangeAspect="1"/>
          </p:cNvPicPr>
          <p:nvPr/>
        </p:nvPicPr>
        <p:blipFill>
          <a:blip r:embed="rId3"/>
          <a:srcRect b="8128"/>
          <a:stretch>
            <a:fillRect/>
          </a:stretch>
        </p:blipFill>
        <p:spPr>
          <a:xfrm>
            <a:off x="715172" y="1044263"/>
            <a:ext cx="10565012" cy="5002356"/>
          </a:xfrm>
          <a:prstGeom prst="rect">
            <a:avLst/>
          </a:prstGeom>
        </p:spPr>
      </p:pic>
    </p:spTree>
    <p:extLst>
      <p:ext uri="{BB962C8B-B14F-4D97-AF65-F5344CB8AC3E}">
        <p14:creationId xmlns:p14="http://schemas.microsoft.com/office/powerpoint/2010/main" val="37293136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07331C0C-A688-2577-D201-5E89695C8393}"/>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D5A8E9-F606-A4C9-2B8C-EC506EDCC05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C601927-51BF-DC42-A4CA-DC4AFF59B3E9}"/>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6969B1E-7695-36D7-EEE5-F336B7408187}"/>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91AAB239-3ABC-D7B1-F1BC-13D730F6B449}"/>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E21D320-1CC4-99E6-D75B-6BEECDAF1E9E}"/>
              </a:ext>
            </a:extLst>
          </p:cNvPr>
          <p:cNvSpPr txBox="1"/>
          <p:nvPr/>
        </p:nvSpPr>
        <p:spPr>
          <a:xfrm>
            <a:off x="1335024" y="1865376"/>
            <a:ext cx="184731" cy="400110"/>
          </a:xfrm>
          <a:prstGeom prst="rect">
            <a:avLst/>
          </a:prstGeom>
          <a:noFill/>
        </p:spPr>
        <p:txBody>
          <a:bodyPr wrap="none" rtlCol="0">
            <a:spAutoFit/>
          </a:bodyPr>
          <a:lstStyle/>
          <a:p>
            <a:endParaRPr lang="en-IN" sz="2000" dirty="0">
              <a:solidFill>
                <a:srgbClr val="FF0000"/>
              </a:solidFill>
            </a:endParaRPr>
          </a:p>
        </p:txBody>
      </p:sp>
      <p:pic>
        <p:nvPicPr>
          <p:cNvPr id="6" name="Picture 5">
            <a:extLst>
              <a:ext uri="{FF2B5EF4-FFF2-40B4-BE49-F238E27FC236}">
                <a16:creationId xmlns:a16="http://schemas.microsoft.com/office/drawing/2014/main" id="{D0E7D280-F931-3781-5ECB-66F7CF9EB8DA}"/>
              </a:ext>
            </a:extLst>
          </p:cNvPr>
          <p:cNvPicPr>
            <a:picLocks noChangeAspect="1"/>
          </p:cNvPicPr>
          <p:nvPr/>
        </p:nvPicPr>
        <p:blipFill>
          <a:blip r:embed="rId3"/>
          <a:stretch>
            <a:fillRect/>
          </a:stretch>
        </p:blipFill>
        <p:spPr>
          <a:xfrm>
            <a:off x="874002" y="1044263"/>
            <a:ext cx="10698566" cy="5010933"/>
          </a:xfrm>
          <a:prstGeom prst="rect">
            <a:avLst/>
          </a:prstGeom>
        </p:spPr>
      </p:pic>
    </p:spTree>
    <p:extLst>
      <p:ext uri="{BB962C8B-B14F-4D97-AF65-F5344CB8AC3E}">
        <p14:creationId xmlns:p14="http://schemas.microsoft.com/office/powerpoint/2010/main" val="33366147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B60838A-4100-297E-CE76-2B1395B3AACD}"/>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4B93259-3CC0-3BFD-160B-B89918593179}"/>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F58F5A7-C9D8-6338-1422-4669842C5BF1}"/>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16BBA1E-C588-7768-5002-C44F32FB875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9D956364-1EEE-7671-B329-9DE0A59ACEF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8D26771-8427-48B8-4D5E-7F1ECBE3633B}"/>
              </a:ext>
            </a:extLst>
          </p:cNvPr>
          <p:cNvSpPr txBox="1"/>
          <p:nvPr/>
        </p:nvSpPr>
        <p:spPr>
          <a:xfrm>
            <a:off x="1335024" y="1865376"/>
            <a:ext cx="184731" cy="400110"/>
          </a:xfrm>
          <a:prstGeom prst="rect">
            <a:avLst/>
          </a:prstGeom>
          <a:noFill/>
        </p:spPr>
        <p:txBody>
          <a:bodyPr wrap="none" rtlCol="0">
            <a:spAutoFit/>
          </a:bodyPr>
          <a:lstStyle/>
          <a:p>
            <a:endParaRPr lang="en-IN" sz="2000" dirty="0">
              <a:solidFill>
                <a:srgbClr val="FF0000"/>
              </a:solidFill>
            </a:endParaRPr>
          </a:p>
        </p:txBody>
      </p:sp>
      <p:pic>
        <p:nvPicPr>
          <p:cNvPr id="6" name="Picture 5">
            <a:extLst>
              <a:ext uri="{FF2B5EF4-FFF2-40B4-BE49-F238E27FC236}">
                <a16:creationId xmlns:a16="http://schemas.microsoft.com/office/drawing/2014/main" id="{669987D0-F268-8B0F-8F4E-A8E43B6ECED1}"/>
              </a:ext>
            </a:extLst>
          </p:cNvPr>
          <p:cNvPicPr>
            <a:picLocks noChangeAspect="1"/>
          </p:cNvPicPr>
          <p:nvPr/>
        </p:nvPicPr>
        <p:blipFill>
          <a:blip r:embed="rId3"/>
          <a:stretch>
            <a:fillRect/>
          </a:stretch>
        </p:blipFill>
        <p:spPr>
          <a:xfrm>
            <a:off x="272938" y="924452"/>
            <a:ext cx="11646124" cy="5637575"/>
          </a:xfrm>
          <a:prstGeom prst="rect">
            <a:avLst/>
          </a:prstGeom>
        </p:spPr>
      </p:pic>
    </p:spTree>
    <p:extLst>
      <p:ext uri="{BB962C8B-B14F-4D97-AF65-F5344CB8AC3E}">
        <p14:creationId xmlns:p14="http://schemas.microsoft.com/office/powerpoint/2010/main" val="537286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1BBBA9C-EC2E-1A82-CF49-C278982D8295}"/>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E7B943D3-2D59-94F1-31AC-ED4F67D7FAEE}"/>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3601F9C3-409A-11DC-651A-AA01B88D22CC}"/>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E2818835-E267-8C30-D55A-9130854665D8}"/>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AC8B9480-6616-3648-7E15-5E40AC68238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0FE85617-4D9B-2BE4-5114-0D4A464C60E3}"/>
              </a:ext>
            </a:extLst>
          </p:cNvPr>
          <p:cNvSpPr txBox="1"/>
          <p:nvPr/>
        </p:nvSpPr>
        <p:spPr>
          <a:xfrm>
            <a:off x="1335024" y="1865376"/>
            <a:ext cx="184731" cy="400110"/>
          </a:xfrm>
          <a:prstGeom prst="rect">
            <a:avLst/>
          </a:prstGeom>
          <a:noFill/>
        </p:spPr>
        <p:txBody>
          <a:bodyPr wrap="none" rtlCol="0">
            <a:spAutoFit/>
          </a:bodyPr>
          <a:lstStyle/>
          <a:p>
            <a:endParaRPr lang="en-IN" sz="2000" dirty="0">
              <a:solidFill>
                <a:srgbClr val="FF0000"/>
              </a:solidFill>
            </a:endParaRPr>
          </a:p>
        </p:txBody>
      </p:sp>
      <p:pic>
        <p:nvPicPr>
          <p:cNvPr id="4" name="Picture 3">
            <a:extLst>
              <a:ext uri="{FF2B5EF4-FFF2-40B4-BE49-F238E27FC236}">
                <a16:creationId xmlns:a16="http://schemas.microsoft.com/office/drawing/2014/main" id="{242CB3C5-F2AF-8139-35D3-0F4111BFF251}"/>
              </a:ext>
            </a:extLst>
          </p:cNvPr>
          <p:cNvPicPr>
            <a:picLocks noChangeAspect="1"/>
          </p:cNvPicPr>
          <p:nvPr/>
        </p:nvPicPr>
        <p:blipFill>
          <a:blip r:embed="rId3"/>
          <a:stretch>
            <a:fillRect/>
          </a:stretch>
        </p:blipFill>
        <p:spPr>
          <a:xfrm>
            <a:off x="739248" y="1044263"/>
            <a:ext cx="11059461" cy="5313613"/>
          </a:xfrm>
          <a:prstGeom prst="rect">
            <a:avLst/>
          </a:prstGeom>
        </p:spPr>
      </p:pic>
    </p:spTree>
    <p:extLst>
      <p:ext uri="{BB962C8B-B14F-4D97-AF65-F5344CB8AC3E}">
        <p14:creationId xmlns:p14="http://schemas.microsoft.com/office/powerpoint/2010/main" val="22932962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184731" cy="707886"/>
          </a:xfrm>
          <a:prstGeom prst="rect">
            <a:avLst/>
          </a:prstGeom>
          <a:noFill/>
        </p:spPr>
        <p:txBody>
          <a:bodyPr wrap="none" rtlCol="0">
            <a:spAutoFit/>
          </a:bodyPr>
          <a:lstStyle/>
          <a:p>
            <a:endParaRPr lang="en-US" sz="2000" dirty="0">
              <a:solidFill>
                <a:srgbClr val="FF0000"/>
              </a:solidFill>
            </a:endParaRPr>
          </a:p>
          <a:p>
            <a:endParaRPr lang="en-IN" sz="2000" dirty="0">
              <a:solidFill>
                <a:srgbClr val="FF0000"/>
              </a:solidFill>
            </a:endParaRPr>
          </a:p>
        </p:txBody>
      </p:sp>
      <p:pic>
        <p:nvPicPr>
          <p:cNvPr id="7" name="Picture 6">
            <a:extLst>
              <a:ext uri="{FF2B5EF4-FFF2-40B4-BE49-F238E27FC236}">
                <a16:creationId xmlns:a16="http://schemas.microsoft.com/office/drawing/2014/main" id="{9215FFF3-7BC2-561A-5369-63D572E03C11}"/>
              </a:ext>
            </a:extLst>
          </p:cNvPr>
          <p:cNvPicPr>
            <a:picLocks noChangeAspect="1"/>
          </p:cNvPicPr>
          <p:nvPr/>
        </p:nvPicPr>
        <p:blipFill>
          <a:blip r:embed="rId3"/>
          <a:stretch>
            <a:fillRect/>
          </a:stretch>
        </p:blipFill>
        <p:spPr>
          <a:xfrm>
            <a:off x="565911" y="1034744"/>
            <a:ext cx="11281959" cy="541699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08414" y="1138182"/>
            <a:ext cx="11301984" cy="5570756"/>
          </a:xfrm>
          <a:prstGeom prst="rect">
            <a:avLst/>
          </a:prstGeom>
          <a:noFill/>
        </p:spPr>
        <p:txBody>
          <a:bodyPr wrap="square" rtlCol="0">
            <a:spAutoFit/>
          </a:bodyPr>
          <a:lstStyle/>
          <a:p>
            <a:r>
              <a:rPr lang="en-IN" sz="1800" dirty="0" err="1"/>
              <a:t>NutriGuide</a:t>
            </a:r>
            <a:r>
              <a:rPr lang="en-IN" sz="1800" dirty="0"/>
              <a:t> AI stands out by combining Agentic AI, RAG, personalization, and nutrition tracking in a single intelligent system.</a:t>
            </a:r>
          </a:p>
          <a:p>
            <a:endParaRPr lang="en-IN" sz="1800" dirty="0"/>
          </a:p>
          <a:p>
            <a:r>
              <a:rPr lang="en-IN" sz="1800" b="1" dirty="0"/>
              <a:t>Multi-Agent Intelligence</a:t>
            </a:r>
            <a:r>
              <a:rPr lang="en-IN" sz="1800" dirty="0"/>
              <a:t> – Four specialized agents handle nutrition knowledge, diet recommendations, health guidance, and food-log feedback.</a:t>
            </a:r>
          </a:p>
          <a:p>
            <a:r>
              <a:rPr lang="en-IN" sz="1800" b="1" dirty="0"/>
              <a:t>RAG-Based Nutrition Knowledge</a:t>
            </a:r>
            <a:r>
              <a:rPr lang="en-IN" sz="1800" dirty="0"/>
              <a:t> – Retrieves relevant food information from the nutrition dataset before generating responses.</a:t>
            </a:r>
          </a:p>
          <a:p>
            <a:r>
              <a:rPr lang="en-IN" sz="1800" b="1" dirty="0"/>
              <a:t>Personalized Recommendations</a:t>
            </a:r>
            <a:r>
              <a:rPr lang="en-IN" sz="1800" dirty="0"/>
              <a:t> – Uses user details such as age, weight, goal, and dietary preference to provide tailored guidance.</a:t>
            </a:r>
          </a:p>
          <a:p>
            <a:r>
              <a:rPr lang="en-IN" sz="1800" b="1" dirty="0"/>
              <a:t>Real-Time Food Feedback</a:t>
            </a:r>
            <a:r>
              <a:rPr lang="en-IN" sz="1800" dirty="0"/>
              <a:t> – </a:t>
            </a:r>
            <a:r>
              <a:rPr lang="en-IN" sz="1800" dirty="0" err="1"/>
              <a:t>Analyzes</a:t>
            </a:r>
            <a:r>
              <a:rPr lang="en-IN" sz="1800" dirty="0"/>
              <a:t> logged foods and provides nutritional feedback based on calories and macronutrients.</a:t>
            </a:r>
          </a:p>
          <a:p>
            <a:r>
              <a:rPr lang="en-IN" sz="1800" b="1" dirty="0"/>
              <a:t>Preventive Health Guidance</a:t>
            </a:r>
            <a:r>
              <a:rPr lang="en-IN" sz="1800" dirty="0"/>
              <a:t> – Provides general wellness and diet-related guidance with appropriate safety disclaimers.</a:t>
            </a:r>
          </a:p>
          <a:p>
            <a:r>
              <a:rPr lang="en-IN" sz="1800" b="1" dirty="0"/>
              <a:t>Interactive Nutrition Dashboard</a:t>
            </a:r>
            <a:r>
              <a:rPr lang="en-IN" sz="1800" dirty="0"/>
              <a:t> – Visualizes calorie intake, goals, protein, carbohydrates, fat, and other nutrition information.</a:t>
            </a:r>
          </a:p>
          <a:p>
            <a:r>
              <a:rPr lang="en-IN" sz="1800" b="1" dirty="0"/>
              <a:t>IBM Granite + watsonx.ai</a:t>
            </a:r>
            <a:r>
              <a:rPr lang="en-IN" sz="1800" dirty="0"/>
              <a:t> – Uses IBM Granite through watsonx.ai for AI-powered nutrition responses.</a:t>
            </a:r>
          </a:p>
          <a:p>
            <a:endParaRPr lang="en-IN" sz="1800" dirty="0"/>
          </a:p>
          <a:p>
            <a:r>
              <a:rPr lang="en-IN" sz="1800" b="1" dirty="0"/>
              <a:t>Overall, </a:t>
            </a:r>
            <a:r>
              <a:rPr lang="en-IN" sz="1800" b="1" dirty="0" err="1"/>
              <a:t>NutriGuide</a:t>
            </a:r>
            <a:r>
              <a:rPr lang="en-IN" sz="1800" b="1" dirty="0"/>
              <a:t> AI combines multiple intelligent capabilities into one personalized and practical nutrition guidance platform.</a:t>
            </a:r>
            <a:endParaRPr lang="en-IN" sz="1800" dirty="0"/>
          </a:p>
          <a:p>
            <a:endParaRPr lang="en-IN" dirty="0"/>
          </a:p>
        </p:txBody>
      </p:sp>
    </p:spTree>
    <p:extLst>
      <p:ext uri="{BB962C8B-B14F-4D97-AF65-F5344CB8AC3E}">
        <p14:creationId xmlns:p14="http://schemas.microsoft.com/office/powerpoint/2010/main" val="2325282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ctr" rtl="0">
              <a:lnSpc>
                <a:spcPct val="162162"/>
              </a:lnSpc>
              <a:spcBef>
                <a:spcPts val="0"/>
              </a:spcBef>
              <a:spcAft>
                <a:spcPts val="0"/>
              </a:spcAft>
              <a:buClr>
                <a:srgbClr val="2B3541"/>
              </a:buClr>
              <a:buSzPts val="1850"/>
              <a:buFont typeface="Times New Roman"/>
              <a:buNone/>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https://github.com/suchithra-sys/NutriGuide-AI/tree/main</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3" y="1221715"/>
            <a:ext cx="9872063" cy="4277001"/>
          </a:xfrm>
          <a:prstGeom prst="rect">
            <a:avLst/>
          </a:prstGeom>
          <a:noFill/>
          <a:ln>
            <a:noFill/>
          </a:ln>
        </p:spPr>
        <p:txBody>
          <a:bodyPr spcFirstLastPara="1" wrap="square" lIns="0" tIns="0" rIns="0" bIns="0" anchor="t" anchorCtr="0">
            <a:noAutofit/>
          </a:bodyPr>
          <a:lstStyle/>
          <a:p>
            <a:r>
              <a:rPr lang="en-IN" sz="2000" b="1" dirty="0"/>
              <a:t>1. Integration with Wearables &amp; Health Devices –</a:t>
            </a:r>
            <a:br>
              <a:rPr lang="en-IN" sz="2000" dirty="0"/>
            </a:br>
            <a:r>
              <a:rPr lang="en-IN" sz="2000" dirty="0"/>
              <a:t>Integrate smartwatches and fitness trackers to collect activity data such as steps, calories burned, heart rate, and sleep patterns. This can help the Nutrition Agent provide more dynamic and personalized nutrition recommendations.</a:t>
            </a:r>
          </a:p>
          <a:p>
            <a:r>
              <a:rPr lang="en-IN" sz="2000" b="1" dirty="0"/>
              <a:t>2. AI-Powered Voice Assistant &amp; Multilingual Support –</a:t>
            </a:r>
            <a:br>
              <a:rPr lang="en-IN" sz="2000" dirty="0"/>
            </a:br>
            <a:r>
              <a:rPr lang="en-IN" sz="2000" dirty="0"/>
              <a:t>Add voice-based interaction and support for multiple Indian languages such as Tamil, Hindi, and Telugu, making the nutrition assistant more accessible to diverse users.</a:t>
            </a:r>
          </a:p>
          <a:p>
            <a:r>
              <a:rPr lang="en-IN" sz="2000" b="1" dirty="0"/>
              <a:t>3. Advanced Food Recognition –</a:t>
            </a:r>
            <a:br>
              <a:rPr lang="en-IN" sz="2000" dirty="0"/>
            </a:br>
            <a:r>
              <a:rPr lang="en-IN" sz="2000" dirty="0"/>
              <a:t>Enable image-based food recognition to identify meals and estimate nutritional values automatically from food photographs.</a:t>
            </a:r>
          </a:p>
          <a:p>
            <a:r>
              <a:rPr lang="en-IN" sz="2000" b="1" dirty="0"/>
              <a:t>4. Improved Personalization &amp; Tracking –</a:t>
            </a:r>
            <a:br>
              <a:rPr lang="en-IN" sz="2000" dirty="0"/>
            </a:br>
            <a:r>
              <a:rPr lang="en-IN" sz="2000" dirty="0"/>
              <a:t>Use long-term food logs, user feedback, and activity data to continuously improve diet recommendations and track progress toward health goals.</a:t>
            </a:r>
          </a:p>
          <a:p>
            <a:r>
              <a:rPr lang="en-IN" sz="2000" b="1" dirty="0"/>
              <a:t>5. Cloud Deployment &amp; Scalability –</a:t>
            </a:r>
            <a:br>
              <a:rPr lang="en-IN" sz="2000" dirty="0"/>
            </a:br>
            <a:r>
              <a:rPr lang="en-IN" sz="2000" dirty="0"/>
              <a:t>Deploy </a:t>
            </a:r>
            <a:r>
              <a:rPr lang="en-IN" sz="2000" dirty="0" err="1"/>
              <a:t>NutriGuide</a:t>
            </a:r>
            <a:r>
              <a:rPr lang="en-IN" sz="2000" dirty="0"/>
              <a:t> AI on IBM Cloud for secure, scalable access and integration with additional AI services.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4" name="Picture 3">
            <a:extLst>
              <a:ext uri="{FF2B5EF4-FFF2-40B4-BE49-F238E27FC236}">
                <a16:creationId xmlns:a16="http://schemas.microsoft.com/office/drawing/2014/main" id="{9A7FF28A-84EB-4E60-95EA-80F9433F23B0}"/>
              </a:ext>
            </a:extLst>
          </p:cNvPr>
          <p:cNvPicPr>
            <a:picLocks noChangeAspect="1"/>
          </p:cNvPicPr>
          <p:nvPr/>
        </p:nvPicPr>
        <p:blipFill>
          <a:blip r:embed="rId2"/>
          <a:stretch>
            <a:fillRect/>
          </a:stretch>
        </p:blipFill>
        <p:spPr>
          <a:xfrm>
            <a:off x="1756777" y="758436"/>
            <a:ext cx="9334343" cy="5730755"/>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1C7C58CE-33A1-6518-4EB9-3806979D98F5}"/>
              </a:ext>
            </a:extLst>
          </p:cNvPr>
          <p:cNvPicPr>
            <a:picLocks noChangeAspect="1"/>
          </p:cNvPicPr>
          <p:nvPr/>
        </p:nvPicPr>
        <p:blipFill>
          <a:blip r:embed="rId2"/>
          <a:stretch>
            <a:fillRect/>
          </a:stretch>
        </p:blipFill>
        <p:spPr>
          <a:xfrm>
            <a:off x="2025578" y="903499"/>
            <a:ext cx="8907760" cy="5466735"/>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1282</Words>
  <Application>Microsoft Office PowerPoint</Application>
  <PresentationFormat>Widescreen</PresentationFormat>
  <Paragraphs>150</Paragraphs>
  <Slides>25</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SUCHITHRA S</cp:lastModifiedBy>
  <cp:revision>5</cp:revision>
  <dcterms:created xsi:type="dcterms:W3CDTF">2025-07-08T05:06:56Z</dcterms:created>
  <dcterms:modified xsi:type="dcterms:W3CDTF">2026-09-12T14:38:15Z</dcterms:modified>
</cp:coreProperties>
</file>